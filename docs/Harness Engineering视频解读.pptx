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/>
  <p:slideViewPr/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4" Type="http://schemas.openxmlformats.org/officeDocument/2006/relationships/slide" Target="slides/slide1.xml"/>
<Relationship Id="rId5" Type="http://schemas.openxmlformats.org/officeDocument/2006/relationships/slide" Target="slides/slide2.xml"/>
<Relationship Id="rId6" Type="http://schemas.openxmlformats.org/officeDocument/2006/relationships/slide" Target="slides/slide3.xml"/>
<Relationship Id="rId7" Type="http://schemas.openxmlformats.org/officeDocument/2006/relationships/slide" Target="slides/slide4.xml"/>
<Relationship Id="rId8" Type="http://schemas.openxmlformats.org/officeDocument/2006/relationships/slide" Target="slides/slide5.xml"/>
<Relationship Id="rId9" Type="http://schemas.openxmlformats.org/officeDocument/2006/relationships/slide" Target="slides/slide6.xml"/>
<Relationship Id="rId10" Type="http://schemas.openxmlformats.org/officeDocument/2006/relationships/slide" Target="slides/slide7.xml"/>
<Relationship Id="rId11" Type="http://schemas.openxmlformats.org/officeDocument/2006/relationships/slide" Target="slides/slide8.xml"/>
<Relationship Id="rId12" Type="http://schemas.openxmlformats.org/officeDocument/2006/relationships/slide" Target="slides/slide9.xml"/>
<Relationship Id="rId13" Type="http://schemas.openxmlformats.org/officeDocument/2006/relationships/slide" Target="slides/slide10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当模型够强，Agent 为什么还是频繁翻车？</a:t>
            </a:r>
            <a:endParaRPr lang="zh-CN" sz="2800"/>
          </a:p>
        </p:txBody>
      </p:sp>
      <p:sp>
        <p:nvSpPr>
          <p:cNvPr id="4" name="Subtitle"/>
          <p:cNvSpPr txBox="1"/>
          <p:nvPr/>
        </p:nvSpPr>
        <p:spPr>
          <a:xfrm>
            <a:off x="420000" y="1500000"/>
            <a:ext cx="113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600"/>
              <a:t>一文讲透 2026 最火 AI 工程概念：Harness Engineering</a:t>
            </a:r>
            <a:endParaRPr lang="zh-CN" sz="1600"/>
          </a:p>
          <a:p>
            <a:pPr/>
            <a:r>
              <a:rPr lang="zh-CN" sz="1600"/>
              <a:t>基于 TGLTommy 视频内容整理</a:t>
            </a:r>
            <a:endParaRPr lang="zh-CN" sz="16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1 页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一句话结论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Agent 频繁失败，越来越不是因为模型能力不足。</a:t>
            </a:r>
            <a:endParaRPr lang="zh-CN" sz="2000"/>
          </a:p>
          <a:p>
            <a:pPr/>
            <a:r>
              <a:rPr lang="zh-CN" sz="2000"/>
              <a:t>• 真正的瓶颈，正在从模型本身转向模型外部的系统设计。</a:t>
            </a:r>
            <a:endParaRPr lang="zh-CN" sz="2000"/>
          </a:p>
          <a:p>
            <a:pPr/>
            <a:r>
              <a:rPr lang="zh-CN" sz="2000"/>
              <a:t>• 下一阶段 AI 应用竞争力，核心在于谁能构建更可靠的 Harness。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2 页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什么是 Harness Engineering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Harness 原意是“马具”或“安全带”。</a:t>
            </a:r>
            <a:endParaRPr lang="zh-CN" sz="2000"/>
          </a:p>
          <a:p>
            <a:pPr/>
            <a:r>
              <a:rPr lang="zh-CN" sz="2000"/>
              <a:t>• 在 AI 系统中，它指模型外部的控制、约束、执行与校验框架。</a:t>
            </a:r>
            <a:endParaRPr lang="zh-CN" sz="2000"/>
          </a:p>
          <a:p>
            <a:pPr/>
            <a:r>
              <a:rPr lang="zh-CN" sz="2000"/>
              <a:t>• 它不是替代模型思考，而是让模型能力更稳定地落地。</a:t>
            </a:r>
            <a:endParaRPr lang="zh-CN" sz="2000"/>
          </a:p>
          <a:p>
            <a:pPr/>
            <a:r>
              <a:rPr lang="zh-CN" sz="2000"/>
              <a:t>• 可以理解为：模型 = 大脑，Harness = 骨架 + 工作流 + 校验器。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3 页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AI 工程范式的三步演进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Prompt Engineering：怎么问，优化单次输出。</a:t>
            </a:r>
            <a:endParaRPr lang="zh-CN" sz="2000"/>
          </a:p>
          <a:p>
            <a:pPr/>
            <a:r>
              <a:rPr lang="zh-CN" sz="2000"/>
              <a:t>• Context Engineering：给什么信息，优化任务理解。</a:t>
            </a:r>
            <a:endParaRPr lang="zh-CN" sz="2000"/>
          </a:p>
          <a:p>
            <a:pPr/>
            <a:r>
              <a:rPr lang="zh-CN" sz="2000"/>
              <a:t>• Harness Engineering：怎么组织系统，优化稳定执行。</a:t>
            </a:r>
            <a:endParaRPr lang="zh-CN" sz="2000"/>
          </a:p>
          <a:p>
            <a:pPr/>
            <a:r>
              <a:rPr lang="zh-CN" sz="2000"/>
              <a:t>• 工程重心正从“生成优化”走向“系统级可靠性设计”。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4 页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为什么 2025 年底到 2026 年初快速升温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大模型基础能力提升后，单步问答已不是主要矛盾。</a:t>
            </a:r>
            <a:endParaRPr lang="zh-CN" sz="2000"/>
          </a:p>
          <a:p>
            <a:pPr/>
            <a:r>
              <a:rPr lang="zh-CN" sz="2000"/>
              <a:t>• Agent 开始承担更长链路、更真实、更复杂的任务。</a:t>
            </a:r>
            <a:endParaRPr lang="zh-CN" sz="2000"/>
          </a:p>
          <a:p>
            <a:pPr/>
            <a:r>
              <a:rPr lang="zh-CN" sz="2000"/>
              <a:t>• 问题从“能不能做”转向“能不能稳定做、规模化做”。</a:t>
            </a:r>
            <a:endParaRPr lang="zh-CN" sz="2000"/>
          </a:p>
          <a:p>
            <a:pPr/>
            <a:r>
              <a:rPr lang="zh-CN" sz="2000"/>
              <a:t>• 企业更关注可靠性、可控性、审计能力和成本。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5 页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Agent 为什么会翻车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任务拆解不清晰。</a:t>
            </a:r>
            <a:endParaRPr lang="zh-CN" sz="2000"/>
          </a:p>
          <a:p>
            <a:pPr/>
            <a:r>
              <a:rPr lang="zh-CN" sz="2000"/>
              <a:t>• 上下文注入混乱或冗余。</a:t>
            </a:r>
            <a:endParaRPr lang="zh-CN" sz="2000"/>
          </a:p>
          <a:p>
            <a:pPr/>
            <a:r>
              <a:rPr lang="zh-CN" sz="2000"/>
              <a:t>• 工具太多，调用不稳定。</a:t>
            </a:r>
            <a:endParaRPr lang="zh-CN" sz="2000"/>
          </a:p>
          <a:p>
            <a:pPr/>
            <a:r>
              <a:rPr lang="zh-CN" sz="2000"/>
              <a:t>• 缺少结果验证与纠错闭环。</a:t>
            </a:r>
            <a:endParaRPr lang="zh-CN" sz="2000"/>
          </a:p>
          <a:p>
            <a:pPr/>
            <a:r>
              <a:rPr lang="zh-CN" sz="2000"/>
              <a:t>• 长链路任务缺乏状态管理。</a:t>
            </a:r>
            <a:endParaRPr lang="zh-CN" sz="2000"/>
          </a:p>
          <a:p>
            <a:pPr/>
            <a:r>
              <a:rPr lang="zh-CN" sz="2000"/>
              <a:t>• 缺少异常恢复、重试和人工兜底机制。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6 页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行业案例透露的共同方向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Anthropic：多 Agent 分工，强调生成与评估分离。</a:t>
            </a:r>
            <a:endParaRPr lang="zh-CN" sz="2000"/>
          </a:p>
          <a:p>
            <a:pPr/>
            <a:r>
              <a:rPr lang="zh-CN" sz="2000"/>
              <a:t>• OpenAI：复杂代码任务依赖完整执行体系，而非单轮生成。</a:t>
            </a:r>
            <a:endParaRPr lang="zh-CN" sz="2000"/>
          </a:p>
          <a:p>
            <a:pPr/>
            <a:r>
              <a:rPr lang="zh-CN" sz="2000"/>
              <a:t>• Google DeepMind：采用 Generator-Verifier-Reviser 循环。</a:t>
            </a:r>
            <a:endParaRPr lang="zh-CN" sz="2000"/>
          </a:p>
          <a:p>
            <a:pPr/>
            <a:r>
              <a:rPr lang="zh-CN" sz="2000"/>
              <a:t>• Vercel：减少工具数量，反而提升整体稳定性。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7 页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Harness 的典型能力模块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任务编排：拆解目标、规划步骤、分配子任务。</a:t>
            </a:r>
            <a:endParaRPr lang="zh-CN" sz="2000"/>
          </a:p>
          <a:p>
            <a:pPr/>
            <a:r>
              <a:rPr lang="zh-CN" sz="2000"/>
              <a:t>• 上下文管理：控制输入信息的质量、范围和时机。</a:t>
            </a:r>
            <a:endParaRPr lang="zh-CN" sz="2000"/>
          </a:p>
          <a:p>
            <a:pPr/>
            <a:r>
              <a:rPr lang="zh-CN" sz="2000"/>
              <a:t>• 工具治理：限制工具数量、明确边界和权限。</a:t>
            </a:r>
            <a:endParaRPr lang="zh-CN" sz="2000"/>
          </a:p>
          <a:p>
            <a:pPr/>
            <a:r>
              <a:rPr lang="zh-CN" sz="2000"/>
              <a:t>• 结果验证：检查、评分、比对和过滤输出。</a:t>
            </a:r>
            <a:endParaRPr lang="zh-CN" sz="2000"/>
          </a:p>
          <a:p>
            <a:pPr/>
            <a:r>
              <a:rPr lang="zh-CN" sz="2000"/>
              <a:t>• 修订循环：失败后重试、反思、修正。</a:t>
            </a:r>
            <a:endParaRPr lang="zh-CN" sz="2000"/>
          </a:p>
          <a:p>
            <a:pPr/>
            <a:r>
              <a:rPr lang="zh-CN" sz="2000"/>
              <a:t>• 监控与安全：日志、告警、人工接管、风险控制。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8 页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对企业和团队的启示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不要再把 Prompt 当作唯一抓手。</a:t>
            </a:r>
            <a:endParaRPr lang="zh-CN" sz="2000"/>
          </a:p>
          <a:p>
            <a:pPr/>
            <a:r>
              <a:rPr lang="zh-CN" sz="2000"/>
              <a:t>• 评估 AI 能力时，要看整条任务链而不是单次输出。</a:t>
            </a:r>
            <a:endParaRPr lang="zh-CN" sz="2000"/>
          </a:p>
          <a:p>
            <a:pPr/>
            <a:r>
              <a:rPr lang="zh-CN" sz="2000"/>
              <a:t>• 优先建设验证、回滚、观测和人工介入能力。</a:t>
            </a:r>
            <a:endParaRPr lang="zh-CN" sz="2000"/>
          </a:p>
          <a:p>
            <a:pPr/>
            <a:r>
              <a:rPr lang="zh-CN" sz="2000"/>
              <a:t>• 工具不是越多越好，稳定性优先于功能堆叠。</a:t>
            </a:r>
            <a:endParaRPr lang="zh-CN" sz="2000"/>
          </a:p>
          <a:p>
            <a:pPr/>
            <a:r>
              <a:rPr lang="zh-CN" sz="2000"/>
              <a:t>• Agent 项目要以系统工程方式推进，而不是 Demo 方式推进。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9 页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420000" y="300000"/>
            <a:ext cx="1100000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20000" y="520000"/>
            <a:ext cx="113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800" b="1"/>
              <a:t>总结</a:t>
            </a:r>
            <a:endParaRPr lang="zh-CN" sz="2800"/>
          </a:p>
        </p:txBody>
      </p:sp>
      <p:sp>
        <p:nvSpPr>
          <p:cNvPr id="5" name="Body"/>
          <p:cNvSpPr txBox="1"/>
          <p:nvPr/>
        </p:nvSpPr>
        <p:spPr>
          <a:xfrm>
            <a:off x="650000" y="1750000"/>
            <a:ext cx="1120000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2000"/>
              <a:t/>
            </a:r>
            <a:endParaRPr lang="zh-CN" sz="2000"/>
          </a:p>
          <a:p>
            <a:pPr/>
            <a:r>
              <a:rPr lang="zh-CN" sz="2000"/>
              <a:t>• 模型持续变强，系统可靠性将成为新的竞争焦点。</a:t>
            </a:r>
            <a:endParaRPr lang="zh-CN" sz="2000"/>
          </a:p>
          <a:p>
            <a:pPr/>
            <a:r>
              <a:rPr lang="zh-CN" sz="2000"/>
              <a:t>• Agent 的关键问题，正从“智力不足”转向“工程失控”。</a:t>
            </a:r>
            <a:endParaRPr lang="zh-CN" sz="2000"/>
          </a:p>
          <a:p>
            <a:pPr/>
            <a:r>
              <a:rPr lang="zh-CN" sz="2000"/>
              <a:t>• Harness Engineering 是下一阶段 AI 应用落地的核心能力之一。</a:t>
            </a:r>
            <a:endParaRPr lang="zh-CN" sz="2000"/>
          </a:p>
          <a:p>
            <a:pPr/>
            <a:r>
              <a:rPr lang="zh-CN" sz="2000"/>
              <a:t>• 未来拼的不只是模型上限，更是模型被组织后的稳定下限。</a:t>
            </a:r>
            <a:endParaRPr lang="zh-CN" sz="2000"/>
          </a:p>
        </p:txBody>
      </p:sp>
      <p:sp>
        <p:nvSpPr>
          <p:cNvPr id="6" name="Footer"/>
          <p:cNvSpPr txBox="1"/>
          <p:nvPr/>
        </p:nvSpPr>
        <p:spPr>
          <a:xfrm>
            <a:off x="420000" y="6550000"/>
            <a:ext cx="11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/>
            <a:r>
              <a:rPr lang="zh-CN" sz="1000"/>
              <a:t>Harness Engineering 视频解读  |  第 10 页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FFFFF"/>
      </a:lt1>
      <a:dk2>
        <a:srgbClr val="0F172A"/>
      </a:dk2>
      <a:lt2>
        <a:srgbClr val="F8FAFC"/>
      </a:lt2>
      <a:accent1>
        <a:srgbClr val="FF7A00"/>
      </a:accent1>
      <a:accent2>
        <a:srgbClr val="0F4C81"/>
      </a:accent2>
      <a:accent3>
        <a:srgbClr val="3A86FF"/>
      </a:accent3>
      <a:accent4>
        <a:srgbClr val="00A896"/>
      </a:accent4>
      <a:accent5>
        <a:srgbClr val="6C757D"/>
      </a:accent5>
      <a:accent6>
        <a:srgbClr val="ADB5BD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0</Notes>
  <HiddenSlides>0</HiddenSlides>
  <MMClips>0</MMClips>
  <ScaleCrop>false</ScaleCrop>
  <HeadingPairs>
    <vt:vector size="2" baseType="variant">
      <vt:variant>
        <vt:lpstr>幻灯片标题</vt:lpstr>
      </vt:variant>
      <vt:variant>
        <vt:i4>10</vt:i4>
      </vt:variant>
    </vt:vector>
  </HeadingPairs>
  <TitlesOfParts>
    <vt:vector size="10" baseType="lpstr">
      <vt:lpstr>当模型够强，Agent 为什么还是频繁翻车？</vt:lpstr>
      <vt:lpstr>一句话结论</vt:lpstr>
      <vt:lpstr>什么是 Harness Engineering</vt:lpstr>
      <vt:lpstr>AI 工程范式的三步演进</vt:lpstr>
      <vt:lpstr>为什么 2025 年底到 2026 年初快速升温</vt:lpstr>
      <vt:lpstr>Agent 为什么会翻车</vt:lpstr>
      <vt:lpstr>行业案例透露的共同方向</vt:lpstr>
      <vt:lpstr>Harness 的典型能力模块</vt:lpstr>
      <vt:lpstr>对企业和团队的启示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视频解读</dc:title>
  <dc:subject>Agent 与 Harness Engineering</dc:subject>
  <dc:creator>Codex</dc:creator>
  <cp:keywords>Harness Engineering, Agent, AI 工程</cp:keywords>
  <dc:description>基于公开视频整理的演示文稿</dc:description>
  <cp:lastModifiedBy>Codex</cp:lastModifiedBy>
  <dcterms:created xsi:type="dcterms:W3CDTF">2026-04-16T09:06:40Z</dcterms:created>
  <dcterms:modified xsi:type="dcterms:W3CDTF">2026-04-16T09:06:40Z</dcterms:modified>
</cp:coreProperties>
</file>